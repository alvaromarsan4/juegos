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>
        <p:scale>
          <a:sx n="100" d="100"/>
          <a:sy n="100" d="100"/>
        </p:scale>
        <p:origin x="95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76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3960" y="274532"/>
            <a:ext cx="10479024" cy="1956816"/>
          </a:xfrm>
          <a:prstGeom prst="rect">
            <a:avLst/>
          </a:prstGeom>
          <a:noFill/>
          <a:ln/>
        </p:spPr>
        <p:txBody>
          <a:bodyPr vert="horz" wrap="square" lIns="228600" tIns="152400" rIns="228600" bIns="152400" rtlCol="0" anchor="t"/>
          <a:lstStyle/>
          <a:p>
            <a:pPr marL="0" indent="0" algn="ctr">
              <a:lnSpc>
                <a:spcPts val="6480"/>
              </a:lnSpc>
              <a:buNone/>
            </a:pPr>
            <a:r>
              <a:rPr lang="en-US" sz="5400" b="1" dirty="0">
                <a:solidFill>
                  <a:srgbClr val="2C3E50"/>
                </a:solidFill>
                <a:latin typeface="Arial Black" panose="020B0A04020102020204" pitchFamily="34" charset="0"/>
                <a:ea typeface="Times New Roman" pitchFamily="34" charset="-122"/>
                <a:cs typeface="Times New Roman" pitchFamily="34" charset="-120"/>
              </a:rPr>
              <a:t>Project Games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6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437608"/>
            <a:ext cx="12192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9185" y="4946636"/>
            <a:ext cx="8534400" cy="809625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27362" y="5190083"/>
            <a:ext cx="25237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 Febrero de 2026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522177" y="4986543"/>
            <a:ext cx="2523744" cy="49418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6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Marcos Sánchez</a:t>
            </a:r>
          </a:p>
          <a:p>
            <a:pPr marL="0" indent="0" algn="ctr">
              <a:lnSpc>
                <a:spcPts val="1980"/>
              </a:lnSpc>
              <a:buNone/>
            </a:pPr>
            <a:r>
              <a:rPr lang="en-US" sz="6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 </a:t>
            </a:r>
            <a:r>
              <a:rPr lang="en-US" sz="64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Aouribi</a:t>
            </a:r>
            <a:r>
              <a:rPr lang="en-US" sz="6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4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Chelcki</a:t>
            </a:r>
            <a:endParaRPr lang="en-US" sz="6400" b="1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980"/>
              </a:lnSpc>
              <a:buNone/>
            </a:pPr>
            <a:r>
              <a:rPr lang="en-US" sz="6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del Campo Alonso</a:t>
            </a:r>
          </a:p>
          <a:p>
            <a:pPr marL="0" indent="0" algn="r">
              <a:lnSpc>
                <a:spcPts val="1980"/>
              </a:lnSpc>
              <a:buNone/>
            </a:pPr>
            <a:endParaRPr lang="en-US" sz="16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3433A2-E982-ADE6-536D-BC700A5D4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919" y="945185"/>
            <a:ext cx="3776932" cy="377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424" y="457200"/>
            <a:ext cx="11503152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Contenidos de la Presentación</a:t>
            </a:r>
            <a:endParaRPr lang="en-US" sz="3150" dirty="0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3061" y="1309688"/>
            <a:ext cx="1219200" cy="38100"/>
          </a:xfrm>
          <a:prstGeom prst="roundRect">
            <a:avLst>
              <a:gd name="adj" fmla="val 249975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24438" y="1219200"/>
            <a:ext cx="96926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1500" dirty="0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9590" y="1309688"/>
            <a:ext cx="1219200" cy="38100"/>
          </a:xfrm>
          <a:prstGeom prst="roundRect">
            <a:avLst>
              <a:gd name="adj" fmla="val 249975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1895475"/>
            <a:ext cx="439668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1895475"/>
            <a:ext cx="0" cy="838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1720" y="2124075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99357" y="2238375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83482" y="2176388"/>
            <a:ext cx="81381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Portada</a:t>
            </a:r>
            <a:endParaRPr lang="en-US" sz="1800" dirty="0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1895475"/>
            <a:ext cx="439668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1895475"/>
            <a:ext cx="0" cy="838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7000" y="2124075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4638" y="2238375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10474" y="2176388"/>
            <a:ext cx="62179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Índice</a:t>
            </a:r>
            <a:endParaRPr lang="en-US" sz="18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2962275"/>
            <a:ext cx="4396680" cy="10057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2962275"/>
            <a:ext cx="0" cy="100578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1720" y="3190875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9357" y="3305175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84747" y="3243188"/>
            <a:ext cx="129844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22" name="Text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2962275"/>
            <a:ext cx="4396680" cy="10057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2962275"/>
            <a:ext cx="0" cy="100578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7000" y="3274665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24638" y="3388965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08465" y="3188940"/>
            <a:ext cx="337413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Arquitectura y Backend en Laravel</a:t>
            </a:r>
            <a:endParaRPr lang="en-US" sz="1800" dirty="0"/>
          </a:p>
        </p:txBody>
      </p:sp>
      <p:sp>
        <p:nvSpPr>
          <p:cNvPr id="27" name="Text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4196655"/>
            <a:ext cx="4396680" cy="10057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4196655"/>
            <a:ext cx="0" cy="100578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1720" y="4425255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99357" y="4539555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82962" y="4477569"/>
            <a:ext cx="311810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Dinámico con Next.js</a:t>
            </a:r>
            <a:endParaRPr lang="en-US" sz="1800" dirty="0"/>
          </a:p>
        </p:txBody>
      </p:sp>
      <p:sp>
        <p:nvSpPr>
          <p:cNvPr id="32" name="Tex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4196655"/>
            <a:ext cx="4396680" cy="10057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300" y="4196655"/>
            <a:ext cx="0" cy="100578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7000" y="4509046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24638" y="4623346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08465" y="4423321"/>
            <a:ext cx="337413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Funciones de Comunidad y Favoritos</a:t>
            </a:r>
            <a:endParaRPr lang="en-US" sz="1800" dirty="0"/>
          </a:p>
        </p:txBody>
      </p:sp>
      <p:sp>
        <p:nvSpPr>
          <p:cNvPr id="37" name="Text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5431036"/>
            <a:ext cx="439668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020" y="5431036"/>
            <a:ext cx="0" cy="838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1720" y="5659636"/>
            <a:ext cx="381000" cy="381000"/>
          </a:xfrm>
          <a:prstGeom prst="roundRect">
            <a:avLst>
              <a:gd name="adj" fmla="val 24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999357" y="5773936"/>
            <a:ext cx="9144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385417" y="5711949"/>
            <a:ext cx="305409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Conclusiones y Líneas Futuras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71437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184648" cy="1572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Plataforma de Videojuegos Gratuitos con Laravel y Next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81225"/>
            <a:ext cx="528523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Introducción</a:t>
            </a:r>
            <a:endParaRPr lang="en-US" sz="1800" dirty="0"/>
          </a:p>
        </p:txBody>
      </p:sp>
      <p:pic>
        <p:nvPicPr>
          <p:cNvPr id="5" name="Image 0" descr="/home/work/odp/data/var/convert/html2pptx/workspace/215925788254934028_571550188_1770321872252593747/output/temp-files/shot-image/icon-0-1770321880880-38306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133725"/>
            <a:ext cx="238125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1485" y="3124200"/>
            <a:ext cx="33192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Tecnología y Suministro de Datos</a:t>
            </a:r>
            <a:endParaRPr lang="en-US" sz="1800" dirty="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90925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5800" y="3495675"/>
            <a:ext cx="4956048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dedicada a la recopilación de videojuegos gratuitos.</a:t>
            </a:r>
            <a:endParaRPr lang="en-US" sz="1500" dirty="0"/>
          </a:p>
        </p:txBody>
      </p:sp>
      <p:sp>
        <p:nvSpPr>
          <p:cNvPr id="9" name="Tex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38625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5800" y="4143375"/>
            <a:ext cx="4956048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una API externa para el suministro de datos siempre actualizado.</a:t>
            </a:r>
            <a:endParaRPr lang="en-US" sz="1500" dirty="0"/>
          </a:p>
        </p:txBody>
      </p:sp>
      <p:pic>
        <p:nvPicPr>
          <p:cNvPr id="11" name="Image 1" descr="/home/work/odp/data/var/convert/html2pptx/workspace/215925788254934028_571550188_1770321872252593747/output/temp-files/shot-image/icon-1-1770321880918-8845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5029200"/>
            <a:ext cx="19050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554" y="5019675"/>
            <a:ext cx="238658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Arquitectura y Enfoque</a:t>
            </a:r>
            <a:endParaRPr lang="en-US" sz="1800" dirty="0"/>
          </a:p>
        </p:txBody>
      </p:sp>
      <p:sp>
        <p:nvSpPr>
          <p:cNvPr id="13" name="Tex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486400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85800" y="5391150"/>
            <a:ext cx="4956048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moderna que separa Frontend (Next.js) y Backend (Laravel).</a:t>
            </a:r>
            <a:endParaRPr lang="en-US" sz="1500" dirty="0"/>
          </a:p>
        </p:txBody>
      </p:sp>
      <p:sp>
        <p:nvSpPr>
          <p:cNvPr id="15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34100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85800" y="6038850"/>
            <a:ext cx="4956048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la accesibilidad y el descubrimiento de nuevos títulos.</a:t>
            </a:r>
            <a:endParaRPr lang="en-US" sz="1500" dirty="0"/>
          </a:p>
        </p:txBody>
      </p:sp>
      <p:sp>
        <p:nvSpPr>
          <p:cNvPr id="17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752475"/>
            <a:ext cx="5181600" cy="2667000"/>
          </a:xfrm>
          <a:prstGeom prst="roundRect">
            <a:avLst>
              <a:gd name="adj" fmla="val 4286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/home/work/odp/data/var/convert/html2pptx/workspace/215925788254934028_571550188_1770321872252593747/output/temp-files/shot-image/img-0-1770321879465-9173379.jpg"/>
          <p:cNvPicPr>
            <a:picLocks noChangeAspect="1"/>
          </p:cNvPicPr>
          <p:nvPr/>
        </p:nvPicPr>
        <p:blipFill>
          <a:blip r:embed="rId5"/>
          <a:srcRect b="8088"/>
          <a:stretch/>
        </p:blipFill>
        <p:spPr>
          <a:xfrm>
            <a:off x="6553200" y="752475"/>
            <a:ext cx="5181600" cy="2667000"/>
          </a:xfrm>
          <a:prstGeom prst="rect">
            <a:avLst/>
          </a:prstGeom>
        </p:spPr>
      </p:pic>
      <p:sp>
        <p:nvSpPr>
          <p:cNvPr id="19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571875"/>
            <a:ext cx="5181600" cy="2667000"/>
          </a:xfrm>
          <a:prstGeom prst="roundRect">
            <a:avLst>
              <a:gd name="adj" fmla="val 4286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/home/work/odp/data/var/convert/html2pptx/workspace/215925788254934028_571550188_1770321872252593747/output/temp-files/shot-image/img-1-1770321879617-9821352.jpg"/>
          <p:cNvPicPr>
            <a:picLocks noChangeAspect="1"/>
          </p:cNvPicPr>
          <p:nvPr/>
        </p:nvPicPr>
        <p:blipFill>
          <a:blip r:embed="rId6"/>
          <a:srcRect b="8524"/>
          <a:stretch/>
        </p:blipFill>
        <p:spPr>
          <a:xfrm>
            <a:off x="6553200" y="3571875"/>
            <a:ext cx="51816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320" y="476250"/>
            <a:ext cx="10881360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Arquitectura y Backend en Laravel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55320" y="1152525"/>
            <a:ext cx="10881360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kern="0" spc="30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Aspectos técnicos destacados del servidor</a:t>
            </a:r>
            <a:endParaRPr lang="en-US" sz="195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009775"/>
            <a:ext cx="4782592" cy="4000500"/>
          </a:xfrm>
          <a:prstGeom prst="roundRect">
            <a:avLst>
              <a:gd name="adj" fmla="val 3810"/>
            </a:avLst>
          </a:prstGeom>
          <a:noFill/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work/odp/data/var/convert/html2pptx/workspace/215925788254934028_571550188_1770321872252593747/output/temp-files/shot-image/img-0-1770321880863-146812.jpg"/>
          <p:cNvPicPr>
            <a:picLocks noChangeAspect="1"/>
          </p:cNvPicPr>
          <p:nvPr/>
        </p:nvPicPr>
        <p:blipFill>
          <a:blip r:embed="rId3"/>
          <a:srcRect r="40049"/>
          <a:stretch/>
        </p:blipFill>
        <p:spPr>
          <a:xfrm>
            <a:off x="800100" y="2047875"/>
            <a:ext cx="4705350" cy="3924300"/>
          </a:xfrm>
          <a:prstGeom prst="rect">
            <a:avLst/>
          </a:prstGeom>
        </p:spPr>
      </p:pic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092" y="2257425"/>
            <a:ext cx="1981200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116092" y="1914525"/>
            <a:ext cx="202082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y Base de Datos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16092" y="2476500"/>
            <a:ext cx="3108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20371" y="2457450"/>
            <a:ext cx="5010912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una API RESTful robusta para la gestión de datos.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16092" y="3200400"/>
            <a:ext cx="3108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20371" y="3181350"/>
            <a:ext cx="5010912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base de datos relacional para usuarios y contenidos.</a:t>
            </a:r>
            <a:endParaRPr lang="en-US" sz="15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092" y="4438650"/>
            <a:ext cx="3009900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116092" y="4095750"/>
            <a:ext cx="307238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Seguridad y Lógica de Negocio</a:t>
            </a:r>
            <a:endParaRPr lang="en-US" sz="1800" dirty="0"/>
          </a:p>
        </p:txBody>
      </p:sp>
      <p:sp>
        <p:nvSpPr>
          <p:cNvPr id="15" name="Tex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092" y="4733925"/>
            <a:ext cx="114300" cy="114300"/>
          </a:xfrm>
          <a:prstGeom prst="roundRect">
            <a:avLst>
              <a:gd name="adj" fmla="val 8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01321" y="4638675"/>
            <a:ext cx="5029200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segura implementada con </a:t>
            </a: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Sanctum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proteger los datos del usuario.</a:t>
            </a:r>
            <a:endParaRPr lang="en-US" sz="1500" dirty="0"/>
          </a:p>
        </p:txBody>
      </p:sp>
      <p:sp>
        <p:nvSpPr>
          <p:cNvPr id="17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092" y="5457825"/>
            <a:ext cx="114300" cy="114300"/>
          </a:xfrm>
          <a:prstGeom prst="roundRect">
            <a:avLst>
              <a:gd name="adj" fmla="val 8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01321" y="5362575"/>
            <a:ext cx="5029200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 gestionada por </a:t>
            </a: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controladores especializados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reseñas y favoritos.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702171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424" y="457200"/>
            <a:ext cx="11503152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Dinámico con Next.js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4424" y="1209675"/>
            <a:ext cx="115031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Aspectos destacados de la interfaz para una experiencia de usuario superior.</a:t>
            </a:r>
            <a:endParaRPr lang="en-US" sz="18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47850"/>
            <a:ext cx="3555950" cy="2924175"/>
          </a:xfrm>
          <a:prstGeom prst="roundRect">
            <a:avLst>
              <a:gd name="adj" fmla="val 3909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3563" y="2152650"/>
            <a:ext cx="30083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Interfaz y Renderizado</a:t>
            </a:r>
            <a:endParaRPr lang="en-US" sz="18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562225"/>
            <a:ext cx="73655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0437" y="2752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8688" y="2752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Renderizado eficiente para listados de juegos fluidos y rápidos.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0437" y="33242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8688" y="33242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de usuario destacada para una navegación ágil.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0437" y="3895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8688" y="3895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React modernos que aseguran total adaptabilidad.</a:t>
            </a:r>
            <a:endParaRPr lang="en-US" sz="1200" dirty="0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7950" y="1847850"/>
            <a:ext cx="3555950" cy="2924175"/>
          </a:xfrm>
          <a:prstGeom prst="roundRect">
            <a:avLst>
              <a:gd name="adj" fmla="val 3909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24313" y="2152650"/>
            <a:ext cx="30083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Optimización y Carga</a:t>
            </a:r>
            <a:endParaRPr lang="en-US" sz="1800" dirty="0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2750" y="2562225"/>
            <a:ext cx="73655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21188" y="2752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9438" y="2752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asíncrona para optimizar la carga de datos.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1188" y="33242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9438" y="33242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recursos bajo demanda para mejorar la velocidad.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1188" y="3895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9438" y="3895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tiempos de espera al interactuar con el backend.</a:t>
            </a:r>
            <a:endParaRPr lang="en-US" sz="1200" dirty="0"/>
          </a:p>
        </p:txBody>
      </p:sp>
      <p:sp>
        <p:nvSpPr>
          <p:cNvPr id="23" name="Text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8701" y="1847850"/>
            <a:ext cx="3556099" cy="2924175"/>
          </a:xfrm>
          <a:prstGeom prst="roundRect">
            <a:avLst>
              <a:gd name="adj" fmla="val 3909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85138" y="2152650"/>
            <a:ext cx="30083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Experiencia de Usuario</a:t>
            </a:r>
            <a:endParaRPr lang="en-US" sz="1800" dirty="0"/>
          </a:p>
        </p:txBody>
      </p:sp>
      <p:sp>
        <p:nvSpPr>
          <p:cNvPr id="25" name="Tex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3501" y="2562225"/>
            <a:ext cx="73655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81938" y="2752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50263" y="2752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navegación intuitivo entre catálogo y perfiles.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81938" y="33242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50263" y="33242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centrado en el usuario para una interacción sencilla.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81938" y="3895725"/>
            <a:ext cx="6400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50263" y="3895725"/>
            <a:ext cx="2788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Transiciones suaves que mejoran la sensación de fluidez.</a:t>
            </a:r>
            <a:endParaRPr lang="en-US" sz="1200" dirty="0"/>
          </a:p>
        </p:txBody>
      </p:sp>
      <p:sp>
        <p:nvSpPr>
          <p:cNvPr id="32" name="Tex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229225"/>
            <a:ext cx="5029200" cy="1335286"/>
          </a:xfrm>
          <a:prstGeom prst="roundRect">
            <a:avLst>
              <a:gd name="adj" fmla="val 8560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97280" y="5457825"/>
            <a:ext cx="46634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Renderizado Eficiente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5753993"/>
            <a:ext cx="4572000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pre-renderiza las páginas en el servidor, ofreciendo listados de juegos que cargan casi instantáneamente.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7280" y="6202561"/>
            <a:ext cx="466344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tecnología de renderizado</a:t>
            </a:r>
            <a:endParaRPr lang="en-US" sz="900" dirty="0"/>
          </a:p>
        </p:txBody>
      </p:sp>
      <p:sp>
        <p:nvSpPr>
          <p:cNvPr id="36" name="Text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5229225"/>
            <a:ext cx="5029200" cy="1335286"/>
          </a:xfrm>
          <a:prstGeom prst="roundRect">
            <a:avLst>
              <a:gd name="adj" fmla="val 8560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31280" y="5457825"/>
            <a:ext cx="46634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Componentes React Modernos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7000" y="5753993"/>
            <a:ext cx="4572000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basada en componentes reutilizables permite una interfaz flexible y fácil de mantener.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31280" y="6202561"/>
            <a:ext cx="4663440" cy="1371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sobre arquitectura de frontend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5265" y="609600"/>
            <a:ext cx="6501384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Funciones de Comunidad y Favoritos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5265" y="1962150"/>
            <a:ext cx="66294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Aspectos destacables de la interacción del usuario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74" y="2600325"/>
            <a:ext cx="31455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Gestión de Perfil y Preferencias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6539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registro e inicio de sesión personalizado</a:t>
            </a:r>
            <a:endParaRPr lang="en-US" sz="1500" dirty="0"/>
          </a:p>
          <a:p>
            <a:pPr marL="190500" indent="-1905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una lista de videojuegos favoritos por cada perfil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5265" y="3619500"/>
            <a:ext cx="66294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Interacción Comunitaria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90975"/>
            <a:ext cx="6539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de reseñas detalladas con valoración y comentarios</a:t>
            </a:r>
            <a:endParaRPr lang="en-US" sz="1500" dirty="0"/>
          </a:p>
          <a:p>
            <a:pPr marL="190500" indent="-1905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feedback visual para la comunidad de jugadores</a:t>
            </a:r>
            <a:endParaRPr lang="en-US" sz="15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580" y="990600"/>
            <a:ext cx="4328220" cy="4876800"/>
          </a:xfrm>
          <a:prstGeom prst="roundRect">
            <a:avLst>
              <a:gd name="adj" fmla="val 1761"/>
            </a:avLst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/home/work/odp/data/var/convert/html2pptx/workspace/215925788254934028_571550188_1770321872252593747/output/temp-files/shot-image/img-0-1770321881292-3064456.jpg"/>
          <p:cNvPicPr>
            <a:picLocks noChangeAspect="1"/>
          </p:cNvPicPr>
          <p:nvPr/>
        </p:nvPicPr>
        <p:blipFill>
          <a:blip r:embed="rId3"/>
          <a:srcRect r="33208"/>
          <a:stretch/>
        </p:blipFill>
        <p:spPr>
          <a:xfrm>
            <a:off x="7406580" y="990600"/>
            <a:ext cx="43243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793611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ext 1"/>
          <p:cNvSpPr/>
          <p:nvPr/>
        </p:nvSpPr>
        <p:spPr>
          <a:xfrm>
            <a:off x="470154" y="431749"/>
            <a:ext cx="863727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anose="020B0A04020102020204" pitchFamily="34" charset="0"/>
                <a:ea typeface="Times New Roman" pitchFamily="34" charset="-122"/>
                <a:cs typeface="Times New Roman" pitchFamily="34" charset="-120"/>
              </a:rPr>
              <a:t>Conclusiones y Líneas Futuras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213051"/>
            <a:ext cx="56418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Cierre del proyecto y posibles mejoras.</a:t>
            </a:r>
            <a:endParaRPr lang="en-US" sz="18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000" y="1654429"/>
            <a:ext cx="2647950" cy="17621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696159"/>
            <a:ext cx="23134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Consolidación Tecnológica</a:t>
            </a:r>
            <a:endParaRPr lang="en-US" sz="135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022" y="2059784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900" y="1967563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robusto con Laravel y Next.js</a:t>
            </a:r>
            <a:endParaRPr lang="en-US" sz="12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2618840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2523299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tecnológica potente y moderna</a:t>
            </a:r>
            <a:endParaRPr lang="en-US" sz="120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5828" y="1626442"/>
            <a:ext cx="2647950" cy="17621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79583" y="1706451"/>
            <a:ext cx="23134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Objetivos Alcanzados</a:t>
            </a:r>
            <a:endParaRPr lang="en-US" sz="135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8050" y="2069097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2642" y="1983819"/>
            <a:ext cx="198424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funcional y social</a:t>
            </a:r>
            <a:endParaRPr lang="en-US" sz="1200" dirty="0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8050" y="2621586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12642" y="2526871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diseñada para escalar</a:t>
            </a:r>
            <a:endParaRPr lang="en-US" sz="12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000" y="3507836"/>
            <a:ext cx="2647950" cy="17621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3611421"/>
            <a:ext cx="23134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Integración de IA</a:t>
            </a:r>
            <a:endParaRPr lang="en-US" sz="1350" dirty="0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954446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0363" y="3869332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recomendación futuro</a:t>
            </a:r>
            <a:endParaRPr lang="en-US" sz="1200" dirty="0"/>
          </a:p>
        </p:txBody>
      </p:sp>
      <p:sp>
        <p:nvSpPr>
          <p:cNvPr id="21" name="Tex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025" y="4570200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0363" y="4446509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de la experiencia de usuario</a:t>
            </a:r>
            <a:endParaRPr lang="en-US" sz="1200" dirty="0"/>
          </a:p>
        </p:txBody>
      </p:sp>
      <p:sp>
        <p:nvSpPr>
          <p:cNvPr id="23" name="Text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5828" y="3507835"/>
            <a:ext cx="2647950" cy="17621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9950" y="3597464"/>
            <a:ext cx="23134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Expansión Futura</a:t>
            </a:r>
            <a:endParaRPr lang="en-US" sz="1350" dirty="0"/>
          </a:p>
        </p:txBody>
      </p:sp>
      <p:sp>
        <p:nvSpPr>
          <p:cNvPr id="25" name="Tex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8050" y="3940489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08183" y="3869332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a red social para gamers</a:t>
            </a:r>
            <a:endParaRPr lang="en-US" sz="1200" dirty="0"/>
          </a:p>
        </p:txBody>
      </p:sp>
      <p:sp>
        <p:nvSpPr>
          <p:cNvPr id="27" name="Text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8050" y="4497982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08183" y="4417800"/>
            <a:ext cx="20848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Ampliación de funciones sociales</a:t>
            </a:r>
            <a:endParaRPr lang="en-US" sz="1200" dirty="0"/>
          </a:p>
        </p:txBody>
      </p:sp>
      <p:sp>
        <p:nvSpPr>
          <p:cNvPr id="29" name="Text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380" y="5373545"/>
            <a:ext cx="5524500" cy="12287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1500" y="5443781"/>
            <a:ext cx="52486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Resultados Clave</a:t>
            </a:r>
            <a:endParaRPr lang="en-US" sz="1350" dirty="0"/>
          </a:p>
        </p:txBody>
      </p:sp>
      <p:sp>
        <p:nvSpPr>
          <p:cNvPr id="31" name="Text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5822581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2000" y="5748533"/>
            <a:ext cx="23134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consolidada y funcional</a:t>
            </a:r>
            <a:endParaRPr lang="en-US" sz="1200" dirty="0"/>
          </a:p>
        </p:txBody>
      </p:sp>
      <p:sp>
        <p:nvSpPr>
          <p:cNvPr id="33" name="Text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5833891"/>
            <a:ext cx="76200" cy="76200"/>
          </a:xfrm>
          <a:prstGeom prst="roundRect">
            <a:avLst>
              <a:gd name="adj" fmla="val 1200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9950" y="5739705"/>
            <a:ext cx="23134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expansión con IA y social</a:t>
            </a:r>
            <a:endParaRPr lang="en-US" sz="1200" dirty="0"/>
          </a:p>
        </p:txBody>
      </p:sp>
      <p:sp>
        <p:nvSpPr>
          <p:cNvPr id="35" name="Text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1586805"/>
            <a:ext cx="5524500" cy="4762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0" descr="/home/work/odp/data/var/convert/html2pptx/workspace/215925788254934028_571550188_1770321872252593747/output/temp-files/shot-image/img-0-1770321881603-6901570.jpg"/>
          <p:cNvPicPr>
            <a:picLocks noChangeAspect="1"/>
          </p:cNvPicPr>
          <p:nvPr/>
        </p:nvPicPr>
        <p:blipFill>
          <a:blip r:embed="rId3"/>
          <a:srcRect r="34440"/>
          <a:stretch/>
        </p:blipFill>
        <p:spPr>
          <a:xfrm>
            <a:off x="6438900" y="1739205"/>
            <a:ext cx="52197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496</Words>
  <Application>Microsoft Office PowerPoint</Application>
  <PresentationFormat>Panorámica</PresentationFormat>
  <Paragraphs>101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ALVARO MARCOS SANCHEZ</cp:lastModifiedBy>
  <cp:revision>2</cp:revision>
  <dcterms:created xsi:type="dcterms:W3CDTF">2026-02-05T20:04:43Z</dcterms:created>
  <dcterms:modified xsi:type="dcterms:W3CDTF">2026-02-05T20:20:25Z</dcterms:modified>
</cp:coreProperties>
</file>